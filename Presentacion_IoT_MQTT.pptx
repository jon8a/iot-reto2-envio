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2" r:id="rId4"/>
    <p:sldId id="258" r:id="rId5"/>
    <p:sldId id="263" r:id="rId6"/>
    <p:sldId id="264" r:id="rId7"/>
    <p:sldId id="260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03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66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MQTT Seguro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Transmisión IoT con TLS Mutual + Control de Acceso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 Ochoa, Oier Martinez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6459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Procedimiento Seguido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pasos para construir el sistema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de Arquitectura y Roles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Decisiones Clave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600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basada en microservicios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8470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contenedores Docker independientes con funciones específicas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28600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2402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roles de usuario definidos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4871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(total), Supervisor (sin costes), Operario L1, Operario L2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92608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8803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jerárquica de topics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1272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fabrica/[área]/[métrica] para facilitar filtrado granular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56616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520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en capas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7673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para transporte + ACL para autorización + CN para identificación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420624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160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realista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4074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líneas de producción con sensores, alertas, costes y 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7"/>
          <p:cNvSpPr/>
          <p:nvPr/>
        </p:nvSpPr>
        <p:spPr>
          <a:xfrm>
            <a:off x="640080" y="1097280"/>
            <a:ext cx="39319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</a:t>
            </a:r>
            <a:endParaRPr lang="en-US" sz="3600" dirty="0"/>
          </a:p>
        </p:txBody>
      </p:sp>
      <p:sp>
        <p:nvSpPr>
          <p:cNvPr id="12" name="Text 6"/>
          <p:cNvSpPr/>
          <p:nvPr/>
        </p:nvSpPr>
        <p:spPr>
          <a:xfrm>
            <a:off x="73152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Arquitectura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22960" y="1554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Contenedores Docker: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Mosquitto (Broker)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Publisher Python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Subscriber Director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Subscriber Operario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Node-RED Dashboard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846320" y="1097280"/>
            <a:ext cx="384048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943600" y="1463040"/>
            <a:ext cx="1645920" cy="7315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37960" y="1600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Mosquitto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120640" y="2651760"/>
            <a:ext cx="9144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3"/>
          <p:cNvSpPr/>
          <p:nvPr/>
        </p:nvSpPr>
        <p:spPr>
          <a:xfrm>
            <a:off x="512064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577840" y="219456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217920" y="2651760"/>
            <a:ext cx="9144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16"/>
          <p:cNvSpPr/>
          <p:nvPr/>
        </p:nvSpPr>
        <p:spPr>
          <a:xfrm>
            <a:off x="621792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Dir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675120" y="219456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315200" y="2651760"/>
            <a:ext cx="9144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19"/>
          <p:cNvSpPr/>
          <p:nvPr/>
        </p:nvSpPr>
        <p:spPr>
          <a:xfrm>
            <a:off x="731520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Op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772400" y="219456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38328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32120" y="3401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Certificados X.509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12064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se autentica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su propio certificado</a:t>
            </a:r>
            <a:endParaRPr lang="en-US" sz="110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9FDC7ADC-74E2-CDC2-C247-BFA4A5326337}"/>
              </a:ext>
            </a:extLst>
          </p:cNvPr>
          <p:cNvSpPr/>
          <p:nvPr/>
        </p:nvSpPr>
        <p:spPr>
          <a:xfrm>
            <a:off x="7726680" y="1563624"/>
            <a:ext cx="914400" cy="4937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Sub Node-Red</a:t>
            </a:r>
            <a:endParaRPr lang="es-ES" sz="1000" dirty="0"/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427AFC1C-85CA-F0A7-C081-D136CD2DB254}"/>
              </a:ext>
            </a:extLst>
          </p:cNvPr>
          <p:cNvSpPr/>
          <p:nvPr/>
        </p:nvSpPr>
        <p:spPr>
          <a:xfrm>
            <a:off x="7574280" y="179128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79482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Generación de CA y Certificados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083212"/>
            <a:ext cx="7863840" cy="37631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Script: generar_certs.sh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60020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Crear Autoridad Certificadora (CA)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182880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ca.key (clave privada RSA 2048-bit)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205740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ca.crt (certificado raíz, validez 10 años)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228600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242316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Generar certificado del servidor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71600" y="265176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server.key + server.crt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71600" y="288036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SAN: DNS:mosquitto, DNS:localhost, IP:127.0.0.1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310896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324612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Generar 5 certificados de cliente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47472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publisher.crt (CN=publisher)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71600" y="370332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director.crt (CN=director)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71600" y="393192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supervisor.crt (CN=supervisor)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71600" y="416052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operario.crt (CN=operario)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71600" y="4389120"/>
            <a:ext cx="71323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operario2.crt (CN=operario2)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Configuración de Mosquitto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mosquitto.conf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356616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listener 8883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cafile /certs/ca.crt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certfile /certs/server.crt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keyfile /certs/server.key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require_certificate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use_identity_as_username true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allow_anonymous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acl_file /config/acl.conf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6576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acl.conf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329184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69164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publisher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 fabrica/#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director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fabrica/#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supervisor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fabrica/linea#/*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fabrica/mantenimiento/*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fabrica/produccion/*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operario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fabrica/linea1/velocidad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fabrica/linea1/temperatura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Seguridad: TLS + ACL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931920" cy="5486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5331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Mutual Authentication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19659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y servidor se verifican
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X.509
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 mapeado a username ACL
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cifrado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6576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188720"/>
            <a:ext cx="3657600" cy="54864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5331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353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 (ACL)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192024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Director: 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fabrica/#
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fabrica/linea#/*
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fabrica/mantenimiento/*
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Operario: 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fabrica/linea1/velocidad
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fabrica/linea1/temperatura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75824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Desarrollo Python: Publisher y Subscribers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97280"/>
            <a:ext cx="38404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16152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</a:rPr>
              <a:t>4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52728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2527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(Productor)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1691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publisher.py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Librería paho-mqtt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22585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client.tls_set() con certificados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25511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 2 líneas de producción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28437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8+ topics (sensores, alertas, costes)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136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Publica cada 3 segundos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09728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Shape 16"/>
          <p:cNvSpPr/>
          <p:nvPr/>
        </p:nvSpPr>
        <p:spPr>
          <a:xfrm>
            <a:off x="4892040" y="1216152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12161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</a:rPr>
              <a:t>5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252728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86400" y="12527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(Consumidores)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937760" y="1691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subscriber_*.py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93776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subscriber_director.py (director.crt)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937760" y="22585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subscriber_operario.py (operario.crt)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937760" y="25511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Ambos usan client.tls_set()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37760" y="28437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suscriben a fabrica/#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937760" y="3136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ACL filtra según certificado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1371600" y="4738702"/>
            <a:ext cx="6400800" cy="2286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1554480" y="4761562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Configuración TLS idéntica: ca.crt + client.crt + client.key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Node-RED: Conexiones y Dashboard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Paso 6: Configuración de Conexiones MQTT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160020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conexiones MQTT al broker (misma URL, diferentes certificados)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85623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Conexión 1: director.crt → Recibe todos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</a:t>
            </a:r>
            <a:endParaRPr lang="en-US" sz="1200" dirty="0">
              <a:solidFill>
                <a:srgbClr val="1A202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5856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</a:t>
            </a: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3: operario.crt → Solo recibe línea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24963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Configuración TLS en cada nodo MQTT-in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743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Paso 7: Construcción del Dashboard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315468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tabs: Vista Director, Supervisor,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</a:t>
            </a: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</a:t>
            </a: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" y="3410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Gauges para velocidad y temperatura (tiempo real)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3666744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Gráficas históricas con Chart.js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392277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Indicadores de alertas y estado de mantenimiento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7280" y="417880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Métricas de producción y costes (solo en tab Director)</a:t>
            </a:r>
            <a:endParaRPr lang="en-US" sz="12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3BDBD0F-6D34-4606-5688-F9F4409571B4}"/>
              </a:ext>
            </a:extLst>
          </p:cNvPr>
          <p:cNvSpPr/>
          <p:nvPr/>
        </p:nvSpPr>
        <p:spPr>
          <a:xfrm>
            <a:off x="1097280" y="205282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Conexión 2: supervisor.crt →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</a:t>
            </a: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</a:t>
            </a: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</a:t>
            </a: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Pruebas CLI y Contenedorización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Paso 8: Pruebas desde CLI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Herramientas: mosquitto_sub y mosquitto_pub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Suscribirse como director → Ver todos los mensajes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0391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Suscribirse como operario → Ver solo línea 1 (ACL en acción)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295144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Publicar mensajes manualmente → Verificar recepción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55117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Probar acceso denegado → Intentar publicar sin permisos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8152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31089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Paso 9: Contenedorización con Docker Compose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" y="347472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Crear Dockerfiles para cada componente Python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97280" y="373075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Configurar docker-compose.yml con 5 servicios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97280" y="3986784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Montar volumen de certificados en todos los contenedores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97280" y="424281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Definir dependencias (depends_on) para orden de inicio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97280" y="449884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Exponer puertos: 8883 (Mosquitto), 1880 (Node-RED)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Demostración del Sistema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22960" y="12984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para la Demo en Vivo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" y="182880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Levantar todo el sistema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2066544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112264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49631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 logs del Publisher (productor)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734056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779776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fabrica-publisher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16382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 logs del Subscriber Director (acceso total)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401568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44728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fabrica-subscriber-director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383133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 logs del Subscriber Operario (acceso limitado)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069080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1148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fabrica-subscriber-operario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449884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Abrir Dashboard Node-RED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4736592"/>
            <a:ext cx="768096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478231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http://localhost:1880/ui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566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Obtenidos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1223889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103120" y="1818249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03320" y="1223889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703320" y="1818249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1223889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C39A"/>
                </a:solidFill>
                <a:latin typeface="Arial Black" pitchFamily="34" charset="0"/>
              </a:rPr>
              <a:t>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303520" y="1818249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ACL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78638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468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Sistema Funcionando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Publisher generando datos cada 3 segundos (8+ topics)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Subscriber Director recibiendo TODOS los mensajes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Subscriber Operario recibiendo SOLO línea 1 (ACL filtra)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Dashboard Node-RED mostrando datos en tiempo real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TLS mutual funcionando (autenticación bidireccional)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ACL aplicando control de acceso granular por certificado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48056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Pruebas CLI verificando permisos y denegaciones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66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1463040"/>
            <a:ext cx="3657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Sistema completo de transmisión IoT segura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2240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Arquitectura profesional con Docker Compose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Seguridad en capas: TLS + ACL + CN mapping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Control de acceso granular demostrado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Procedimiento documentado y reproducible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Principio de mínimo privilegio implementado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1031</Words>
  <Application>Microsoft Office PowerPoint</Application>
  <PresentationFormat>Presentación en pantalla (16:9)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MQTT Seguro - Procedimiento y Demostración</dc:title>
  <dc:subject>PptxGenJS Presentation</dc:subject>
  <dc:creator>Jon Ochoa, Oier Martinez</dc:creator>
  <cp:lastModifiedBy>OCHOA CEREZO, JON</cp:lastModifiedBy>
  <cp:revision>5</cp:revision>
  <dcterms:created xsi:type="dcterms:W3CDTF">2026-02-26T07:54:20Z</dcterms:created>
  <dcterms:modified xsi:type="dcterms:W3CDTF">2026-02-26T08:15:35Z</dcterms:modified>
</cp:coreProperties>
</file>