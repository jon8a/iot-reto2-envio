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67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8" r:id="rId12"/>
    <p:sldId id="269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851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66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1097280"/>
            <a:ext cx="1463040" cy="14630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926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Sistema MQTT Seguro</a:t>
            </a:r>
            <a:endParaRPr lang="en-US" sz="4400" dirty="0"/>
          </a:p>
        </p:txBody>
      </p:sp>
      <p:sp>
        <p:nvSpPr>
          <p:cNvPr id="4" name="Text 1"/>
          <p:cNvSpPr/>
          <p:nvPr/>
        </p:nvSpPr>
        <p:spPr>
          <a:xfrm>
            <a:off x="914400" y="3657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Transmisión IoT con TLS Mutual + Control de Acceso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914400" y="4572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0F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Jon Ochoa, Oier Martinez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Índice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01</a:t>
            </a:r>
            <a:endParaRPr lang="en-US" sz="16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132588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3258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y Arquitectura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31520" y="17830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731520" y="1783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02</a:t>
            </a:r>
            <a:endParaRPr lang="en-US" sz="16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182880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82880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MQTT? Publicar y Suscribir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" y="228600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8"/>
          <p:cNvSpPr/>
          <p:nvPr/>
        </p:nvSpPr>
        <p:spPr>
          <a:xfrm>
            <a:off x="73152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03</a:t>
            </a:r>
            <a:endParaRPr lang="en-US" sz="160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2331720"/>
            <a:ext cx="320040" cy="3200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828800" y="2331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 MQTT en Acción</a:t>
            </a:r>
            <a:endParaRPr lang="en-US" sz="1600" dirty="0"/>
          </a:p>
        </p:txBody>
      </p:sp>
      <p:sp>
        <p:nvSpPr>
          <p:cNvPr id="15" name="Shape 10"/>
          <p:cNvSpPr/>
          <p:nvPr/>
        </p:nvSpPr>
        <p:spPr>
          <a:xfrm>
            <a:off x="731520" y="278892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1"/>
          <p:cNvSpPr/>
          <p:nvPr/>
        </p:nvSpPr>
        <p:spPr>
          <a:xfrm>
            <a:off x="731520" y="27889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04</a:t>
            </a:r>
            <a:endParaRPr lang="en-US" sz="160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71600" y="2834640"/>
            <a:ext cx="320040" cy="3200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828800" y="28346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Seguridad: TLS Mutual Authentication</a:t>
            </a:r>
            <a:endParaRPr lang="en-US" sz="1600" dirty="0"/>
          </a:p>
        </p:txBody>
      </p:sp>
      <p:sp>
        <p:nvSpPr>
          <p:cNvPr id="19" name="Shape 13"/>
          <p:cNvSpPr/>
          <p:nvPr/>
        </p:nvSpPr>
        <p:spPr>
          <a:xfrm>
            <a:off x="731520" y="329184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4"/>
          <p:cNvSpPr/>
          <p:nvPr/>
        </p:nvSpPr>
        <p:spPr>
          <a:xfrm>
            <a:off x="731520" y="32918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05</a:t>
            </a:r>
            <a:endParaRPr lang="en-US" sz="16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71600" y="3337560"/>
            <a:ext cx="320040" cy="3200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828800" y="3337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de Acceso con ACL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731520" y="379476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17"/>
          <p:cNvSpPr/>
          <p:nvPr/>
        </p:nvSpPr>
        <p:spPr>
          <a:xfrm>
            <a:off x="731520" y="3794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06</a:t>
            </a:r>
            <a:endParaRPr lang="en-US" sz="160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71600" y="3840480"/>
            <a:ext cx="320040" cy="3200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828800" y="38404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ACL: Filtrando Mensajes por Rol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31520" y="4297680"/>
            <a:ext cx="411480" cy="4114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0"/>
          <p:cNvSpPr/>
          <p:nvPr/>
        </p:nvSpPr>
        <p:spPr>
          <a:xfrm>
            <a:off x="731520" y="42976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07</a:t>
            </a:r>
            <a:endParaRPr lang="en-US" sz="1600" dirty="0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71600" y="4343400"/>
            <a:ext cx="320040" cy="32004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828800" y="43434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Implementación y Demo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Orquestación: Docker Compose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servicios coordinados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640080" y="2011680"/>
            <a:ext cx="73152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/>
          <p:nvPr/>
        </p:nvSpPr>
        <p:spPr>
          <a:xfrm>
            <a:off x="914400" y="20574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mosquitto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291840" y="20574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MQTT + TLS + ACL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132320" y="205740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:8883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40080" y="256032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40080" y="2560320"/>
            <a:ext cx="73152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/>
          <p:nvPr/>
        </p:nvSpPr>
        <p:spPr>
          <a:xfrm>
            <a:off x="914400" y="2606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91840" y="2606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Productor Python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10896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2"/>
          <p:cNvSpPr/>
          <p:nvPr/>
        </p:nvSpPr>
        <p:spPr>
          <a:xfrm>
            <a:off x="640080" y="3108960"/>
            <a:ext cx="73152" cy="4572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/>
          <p:nvPr/>
        </p:nvSpPr>
        <p:spPr>
          <a:xfrm>
            <a:off x="914400" y="31546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subscriber-director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29184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(acceso total)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365760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hape 16"/>
          <p:cNvSpPr/>
          <p:nvPr/>
        </p:nvSpPr>
        <p:spPr>
          <a:xfrm>
            <a:off x="640080" y="3657600"/>
            <a:ext cx="73152" cy="4572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7"/>
          <p:cNvSpPr/>
          <p:nvPr/>
        </p:nvSpPr>
        <p:spPr>
          <a:xfrm>
            <a:off x="914400" y="3703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subscriber-operario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291840" y="3703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(acceso limitado)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73152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21"/>
          <p:cNvSpPr/>
          <p:nvPr/>
        </p:nvSpPr>
        <p:spPr>
          <a:xfrm>
            <a:off x="914400" y="425196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nodered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3291840" y="4251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de visualización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132320" y="42519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:1880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MQTT: Publicar y Suscribir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931920" cy="251044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393192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07592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30759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</a:t>
            </a:r>
            <a:r>
              <a:rPr lang="en-US" sz="13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envía datos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</a:t>
            </a: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 un </a:t>
            </a:r>
            <a:r>
              <a:rPr lang="en-US" sz="1300" b="1" dirty="0">
                <a:solidFill>
                  <a:srgbClr val="02C3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</a:t>
            </a: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topic: </a:t>
            </a:r>
            <a:r>
              <a:rPr lang="en-US" sz="12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fabrica/linea1/temp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payload: </a:t>
            </a:r>
            <a:r>
              <a:rPr lang="en-US" sz="12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{"valor": 72.5}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846320" y="1188719"/>
            <a:ext cx="3584171" cy="2558935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4846320" y="1188720"/>
            <a:ext cx="365760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07592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94960" y="1307592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9200" y="17830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</a:t>
            </a:r>
            <a:r>
              <a:rPr lang="en-US" sz="13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</a:t>
            </a: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 dicen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</a:t>
            </a:r>
            <a:r>
              <a:rPr lang="en-US" sz="13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qué topics quieren:
</a:t>
            </a:r>
            <a:endParaRPr lang="en-US" sz="13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</a:t>
            </a: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/linea1/#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fabrica/+/temperatura
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fabrica/#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40080" y="384186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Flujo de Comunicación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22960" y="4389120"/>
            <a:ext cx="137160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4"/>
          <p:cNvSpPr/>
          <p:nvPr/>
        </p:nvSpPr>
        <p:spPr>
          <a:xfrm>
            <a:off x="822960" y="4389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endParaRPr lang="en-US" sz="11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6000" y="4507992"/>
            <a:ext cx="228600" cy="2286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2651760" y="4389120"/>
            <a:ext cx="137160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1" name="Text 16"/>
          <p:cNvSpPr/>
          <p:nvPr/>
        </p:nvSpPr>
        <p:spPr>
          <a:xfrm>
            <a:off x="2651760" y="43891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</a:t>
            </a:r>
            <a:endParaRPr lang="en-US" sz="110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4507992"/>
            <a:ext cx="228600" cy="2286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4480560" y="4389120"/>
            <a:ext cx="1645920" cy="4572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4" name="Text 18"/>
          <p:cNvSpPr/>
          <p:nvPr/>
        </p:nvSpPr>
        <p:spPr>
          <a:xfrm>
            <a:off x="4480560" y="4389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Subscribers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2011679" y="4160520"/>
            <a:ext cx="72459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3657599" y="4160520"/>
            <a:ext cx="983673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Filtra y enruta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Seguridad: TLS Mutual Authentication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7863840" cy="457200"/>
          </a:xfrm>
          <a:prstGeom prst="rect">
            <a:avLst/>
          </a:prstGeom>
          <a:solidFill>
            <a:srgbClr val="028090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07592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1307592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Ambos lados se verifican: Cliente ↔ Servidor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874520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822960" y="1947672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/>
          <p:nvPr/>
        </p:nvSpPr>
        <p:spPr>
          <a:xfrm>
            <a:off x="82296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34440" y="1947672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→ Broker: ClientHello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234440" y="2130552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inicia conexión y propone cifrados TLS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40080" y="2359152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822960" y="2432304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/>
          <p:nvPr/>
        </p:nvSpPr>
        <p:spPr>
          <a:xfrm>
            <a:off x="822960" y="2432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234440" y="2432304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→ Cliente: ServerHello + server.crt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34440" y="2615184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envía su certificado firmado por la CA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40080" y="2843784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822960" y="2916936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/>
          <p:nvPr/>
        </p:nvSpPr>
        <p:spPr>
          <a:xfrm>
            <a:off x="822960" y="291693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234440" y="2916936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verifica server.crt con ca.crt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234440" y="3099816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 este broker legítimo? ✓ Validado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640080" y="3328416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19"/>
          <p:cNvSpPr/>
          <p:nvPr/>
        </p:nvSpPr>
        <p:spPr>
          <a:xfrm>
            <a:off x="822960" y="3401568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0"/>
          <p:cNvSpPr/>
          <p:nvPr/>
        </p:nvSpPr>
        <p:spPr>
          <a:xfrm>
            <a:off x="822960" y="34015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1234440" y="3401568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→ Broker: client.crt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234440" y="3584448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envía su certificado (director.crt, operario.crt, etc.)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40080" y="3813048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Shape 24"/>
          <p:cNvSpPr/>
          <p:nvPr/>
        </p:nvSpPr>
        <p:spPr>
          <a:xfrm>
            <a:off x="822960" y="3886200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8" name="Text 25"/>
          <p:cNvSpPr/>
          <p:nvPr/>
        </p:nvSpPr>
        <p:spPr>
          <a:xfrm>
            <a:off x="822960" y="38862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34440" y="3886200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verifica client.crt con ca.crt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234440" y="4069080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 este cliente autorizado? ✓ Validado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40080" y="4297680"/>
            <a:ext cx="7863840" cy="438912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822960" y="4370832"/>
            <a:ext cx="292608" cy="292608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/>
          <p:nvPr/>
        </p:nvSpPr>
        <p:spPr>
          <a:xfrm>
            <a:off x="822960" y="43708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234440" y="4370832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extrae CN del certificado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1234440" y="4553712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 = "director" → Se usará para el ACL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640080" y="4782312"/>
            <a:ext cx="7863840" cy="438912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7" name="Shape 34"/>
          <p:cNvSpPr/>
          <p:nvPr/>
        </p:nvSpPr>
        <p:spPr>
          <a:xfrm>
            <a:off x="822960" y="4855464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8" name="Text 35"/>
          <p:cNvSpPr/>
          <p:nvPr/>
        </p:nvSpPr>
        <p:spPr>
          <a:xfrm>
            <a:off x="822960" y="485546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0B981"/>
                </a:solidFill>
              </a:rPr>
              <a:t>7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1234440" y="4855464"/>
            <a:ext cx="704088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🔒 Canal cifrado establecido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1234440" y="5038344"/>
            <a:ext cx="70408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 segura activa. Todos los mensajes encriptados.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Comunicación MQTT en Acción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sistema en funcionamiento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8404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384048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6" name="Text 4"/>
          <p:cNvSpPr/>
          <p:nvPr/>
        </p:nvSpPr>
        <p:spPr>
          <a:xfrm>
            <a:off x="822960" y="13898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Topics Publicados (cada 3s)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1874520"/>
            <a:ext cx="548640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8" name="Text 6"/>
          <p:cNvSpPr/>
          <p:nvPr/>
        </p:nvSpPr>
        <p:spPr>
          <a:xfrm>
            <a:off x="822960" y="18745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fabrica/linea1/velocidad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822960" y="2194560"/>
            <a:ext cx="548640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1" name="Text 9"/>
          <p:cNvSpPr/>
          <p:nvPr/>
        </p:nvSpPr>
        <p:spPr>
          <a:xfrm>
            <a:off x="822960" y="21945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463040" y="21945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fabrica/linea1/temperatura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2514600"/>
            <a:ext cx="548640" cy="2286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822960" y="25146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463040" y="25146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fabrica/linea2/velocidad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" y="2834640"/>
            <a:ext cx="548640" cy="2286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822960" y="28346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63040" y="283464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fabrica/linea2/temperatura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3154680"/>
            <a:ext cx="548640" cy="2286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822960" y="31546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463040" y="315468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fabrica/mantenimiento/alertas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3474720"/>
            <a:ext cx="548640" cy="2286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822960" y="347472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63040" y="347472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fabrica/mantenimiento/estado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794760"/>
            <a:ext cx="548640" cy="22860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6" name="Text 24"/>
          <p:cNvSpPr/>
          <p:nvPr/>
        </p:nvSpPr>
        <p:spPr>
          <a:xfrm>
            <a:off x="822960" y="379476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463040" y="379476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fabrica/produccion/rendimiento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4114800"/>
            <a:ext cx="548640" cy="228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9" name="Text 27"/>
          <p:cNvSpPr/>
          <p:nvPr/>
        </p:nvSpPr>
        <p:spPr>
          <a:xfrm>
            <a:off x="822960" y="411480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€€€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463040" y="4114800"/>
            <a:ext cx="2834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fabrica/costes/energia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754880" y="1280160"/>
            <a:ext cx="374904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30"/>
          <p:cNvSpPr/>
          <p:nvPr/>
        </p:nvSpPr>
        <p:spPr>
          <a:xfrm>
            <a:off x="4754880" y="1280160"/>
            <a:ext cx="3749040" cy="45720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31"/>
          <p:cNvSpPr/>
          <p:nvPr/>
        </p:nvSpPr>
        <p:spPr>
          <a:xfrm>
            <a:off x="4937760" y="1389888"/>
            <a:ext cx="3383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📥 Suscripciones de Clientes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937760" y="187452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029200" y="2093976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se suscribe, solo publica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937760" y="256032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Director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779776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fabrica/#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937760" y="324612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Operario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029200" y="3465576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fabrica/#  (pero ACL filtra)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37760" y="3931920"/>
            <a:ext cx="33832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Node-RED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0" y="4151376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fabrica/#  (2 conexiones)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Control de Acceso con ACL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Control List - Lista de Control de Acceso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786384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4630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325880"/>
            <a:ext cx="7040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es el ACL?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300942" y="1645920"/>
            <a:ext cx="7040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ACL define QUÉ puede hacer QUIÉN en el broker. Cada usuario (identificado por su certificado) tiene permisos específicos para leer o escribir en ciertos topics. Es como una lista de permisos en un sistema de archivos, pero para mensajes MQTT.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468880"/>
            <a:ext cx="7818120" cy="274320"/>
          </a:xfrm>
          <a:prstGeom prst="rect">
            <a:avLst/>
          </a:prstGeom>
          <a:solidFill>
            <a:srgbClr val="02C39A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/>
          <p:nvPr/>
        </p:nvSpPr>
        <p:spPr>
          <a:xfrm>
            <a:off x="822960" y="2514600"/>
            <a:ext cx="7498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🔑 Mapeo Certificado → Usuario ACL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2734887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broker extrae el </a:t>
            </a: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 Name (CN)</a:t>
            </a: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del certificado del cliente.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CN se usa como 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0A8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</a:t>
            </a: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el ACL. Ej: CN=</a:t>
            </a:r>
            <a:r>
              <a:rPr lang="en-US" sz="12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"director"</a:t>
            </a:r>
            <a:r>
              <a:rPr lang="en-US" sz="12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ACL busca </a:t>
            </a:r>
            <a:r>
              <a:rPr lang="en-US" sz="12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director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383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Roles Implementados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" y="3749040"/>
            <a:ext cx="786384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767328"/>
            <a:ext cx="182880" cy="1828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60120" y="374904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148840" y="374904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fabrica/#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6355080" y="37490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Acceso total a todos los topics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40080" y="4023360"/>
            <a:ext cx="786384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41648"/>
            <a:ext cx="182880" cy="18288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60120" y="402336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supervisor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2148840" y="402336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fabrica/linea#/*, fabrica/mantenimiento/*, fabrica/produccion/*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6355080" y="402336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Líneas, mantenimiento y producción (sin costes)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40080" y="4297680"/>
            <a:ext cx="786384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4315968"/>
            <a:ext cx="182880" cy="1828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60120" y="429768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operario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2148840" y="42976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fabrica/linea1/velocidad, fabrica/linea1/temperatura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355080" y="42976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velocidad y temperatura de línea 1</a:t>
            </a:r>
            <a:endParaRPr lang="en-US" sz="900" dirty="0"/>
          </a:p>
        </p:txBody>
      </p:sp>
      <p:sp>
        <p:nvSpPr>
          <p:cNvPr id="27" name="Shape 21"/>
          <p:cNvSpPr/>
          <p:nvPr/>
        </p:nvSpPr>
        <p:spPr>
          <a:xfrm>
            <a:off x="640080" y="4572000"/>
            <a:ext cx="7863840" cy="228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90288"/>
            <a:ext cx="182880" cy="1828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60120" y="4572000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2148840" y="457200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readwrite fabrica/#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6355080" y="45720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publicar en cualquier topic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ACL: Filtrando Mensajes por Rol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905256"/>
            <a:ext cx="7863840" cy="658368"/>
          </a:xfrm>
          <a:prstGeom prst="rect">
            <a:avLst/>
          </a:prstGeom>
          <a:solidFill>
            <a:srgbClr val="028090">
              <a:alpha val="80000"/>
            </a:srgbClr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822960" y="1042416"/>
            <a:ext cx="7498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Escenario: Publisher envía mensaje de costes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271016"/>
            <a:ext cx="7498080" cy="137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Topic: fabrica/costes/energia    Payload: {"kwh": 472.35, "coste_eur": 66.13}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7863840" cy="1243584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2880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1783080"/>
            <a:ext cx="7132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Broker consulta ACL para cada suscriptor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234440" y="205740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Busca suscriptores de </a:t>
            </a: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fabrica/costes/</a:t>
            </a:r>
            <a:r>
              <a:rPr lang="en-US" sz="1100" dirty="0" err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energia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Para cada suscriptor: ¿Tiene permiso de </a:t>
            </a:r>
            <a:r>
              <a:rPr lang="en-US" sz="11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en este topic?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Si SÍ → Entrega mensaje. Si NO → Descarta (sin notificar al cliente)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9260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Resultado por Rol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291840"/>
            <a:ext cx="78638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410712"/>
            <a:ext cx="228600" cy="228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97280" y="336499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097280" y="3547872"/>
            <a:ext cx="10972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director.crt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2194560" y="336499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fabrica/#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35040" y="3410712"/>
            <a:ext cx="1005840" cy="2286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3"/>
          <p:cNvSpPr/>
          <p:nvPr/>
        </p:nvSpPr>
        <p:spPr>
          <a:xfrm>
            <a:off x="6035040" y="341071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RECIBE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7132320" y="336499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Tiene acceso a fabrica/# (incluye costes)</a:t>
            </a:r>
            <a:endParaRPr lang="en-US" sz="800" dirty="0"/>
          </a:p>
        </p:txBody>
      </p:sp>
      <p:sp>
        <p:nvSpPr>
          <p:cNvPr id="19" name="Shape 15"/>
          <p:cNvSpPr/>
          <p:nvPr/>
        </p:nvSpPr>
        <p:spPr>
          <a:xfrm>
            <a:off x="640080" y="3840480"/>
            <a:ext cx="78638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959352"/>
            <a:ext cx="228600" cy="2286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97280" y="3913632"/>
            <a:ext cx="1005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1097280" y="4096512"/>
            <a:ext cx="109728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supervisor.crt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2194560" y="3913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fabrica/linea#/*, fabrica/mantenimiento/*, fabrica/produccion/*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6035040" y="3959352"/>
            <a:ext cx="1005840" cy="228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5" name="Text 20"/>
          <p:cNvSpPr/>
          <p:nvPr/>
        </p:nvSpPr>
        <p:spPr>
          <a:xfrm>
            <a:off x="6035040" y="395935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BLOQUEADO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7132320" y="391363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 permiso en fabrica/costes/*</a:t>
            </a:r>
            <a:endParaRPr lang="en-US" sz="800" dirty="0"/>
          </a:p>
        </p:txBody>
      </p:sp>
      <p:sp>
        <p:nvSpPr>
          <p:cNvPr id="27" name="Shape 22"/>
          <p:cNvSpPr/>
          <p:nvPr/>
        </p:nvSpPr>
        <p:spPr>
          <a:xfrm>
            <a:off x="640080" y="4389120"/>
            <a:ext cx="7863840" cy="47548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4507992"/>
            <a:ext cx="228600" cy="2286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097280" y="4462272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Operario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1097280" y="4645152"/>
            <a:ext cx="1005840" cy="1325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operario.crt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2194560" y="446227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fabrica/linea1/velocidad, fabrica/linea1/temperatura</a:t>
            </a:r>
            <a:endParaRPr lang="en-US" sz="900" dirty="0"/>
          </a:p>
        </p:txBody>
      </p:sp>
      <p:sp>
        <p:nvSpPr>
          <p:cNvPr id="32" name="Shape 26"/>
          <p:cNvSpPr/>
          <p:nvPr/>
        </p:nvSpPr>
        <p:spPr>
          <a:xfrm>
            <a:off x="6035040" y="4507992"/>
            <a:ext cx="1005840" cy="22860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33" name="Text 27"/>
          <p:cNvSpPr/>
          <p:nvPr/>
        </p:nvSpPr>
        <p:spPr>
          <a:xfrm>
            <a:off x="6035040" y="4507992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BLOQUEADO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7132320" y="4462272"/>
            <a:ext cx="1280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 tiene acceso a 2 topics específicos de línea 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Comparación: Director vs Operario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93192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3931920" cy="54864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53312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5331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👔 Director (Acceso Total)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1837944"/>
            <a:ext cx="3794760" cy="226992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Certificado: </a:t>
            </a:r>
            <a:r>
              <a:rPr lang="en-US" sz="11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director.crt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suscribe a:</a:t>
            </a: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fabrica/#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</a:t>
            </a:r>
            <a:r>
              <a:rPr lang="en-US" sz="1100" b="1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</a:t>
            </a: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r>
              <a:rPr lang="en-US" sz="1100" b="1" dirty="0"/>
              <a:t>	</a:t>
            </a:r>
            <a:r>
              <a:rPr lang="en-US" sz="11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</a:t>
            </a:r>
            <a:r>
              <a:rPr lang="en-US" sz="1100" dirty="0" err="1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</a:t>
            </a:r>
            <a:r>
              <a:rPr lang="en-US" sz="11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/#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</a:t>
            </a:r>
            <a:r>
              <a:rPr lang="en-US" sz="1100" b="1" dirty="0" err="1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Línea 1 y Línea 2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000" dirty="0" err="1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000" dirty="0" err="1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Costes 💰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Energía</a:t>
            </a:r>
          </a:p>
          <a:p>
            <a:pPr marL="0" indent="0">
              <a:buNone/>
            </a:pPr>
            <a:endParaRPr lang="en-US" sz="1000" dirty="0">
              <a:solidFill>
                <a:srgbClr val="1A202C"/>
              </a:solidFill>
              <a:latin typeface="Arial" pitchFamily="34" charset="0"/>
              <a:cs typeface="Arial" pitchFamily="34" charset="-120"/>
            </a:endParaRP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846320" y="1188720"/>
            <a:ext cx="36576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9" name="Shape 6"/>
          <p:cNvSpPr/>
          <p:nvPr/>
        </p:nvSpPr>
        <p:spPr>
          <a:xfrm>
            <a:off x="4846320" y="1188720"/>
            <a:ext cx="3657600" cy="5486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5331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40680" y="135331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👷 Operario (Acceso Limitado)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029200" y="187452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Certificado: </a:t>
            </a:r>
            <a:r>
              <a:rPr lang="en-US" sz="11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operario.crt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Intenta suscribirse a:</a:t>
            </a:r>
            <a:r>
              <a:rPr lang="en-US" sz="1100" b="1" dirty="0"/>
              <a:t> </a:t>
            </a:r>
            <a:r>
              <a:rPr lang="en-US" sz="1100" dirty="0" err="1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fabrica</a:t>
            </a:r>
            <a:r>
              <a:rPr lang="en-US" sz="11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/#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permite SOLO: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fabrica/linea1/</a:t>
            </a:r>
            <a:r>
              <a:rPr lang="en-US" sz="900" dirty="0" err="1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velocidad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fabrica/linea1/temperature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</a:t>
            </a:r>
            <a:r>
              <a:rPr lang="en-US" sz="1100" b="1" dirty="0" err="1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Línea 1 </a:t>
            </a:r>
            <a:r>
              <a:rPr lang="en-US" sz="1000" dirty="0" err="1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velocidad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Línea 1 temperature</a:t>
            </a:r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NO </a:t>
            </a:r>
            <a:r>
              <a:rPr lang="en-US" sz="1100" b="1" dirty="0" err="1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</a:t>
            </a:r>
            <a:r>
              <a:rPr lang="en-US" sz="11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Línea 2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Mantenimiento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</a:t>
            </a:r>
            <a:r>
              <a:rPr lang="en-US" sz="1000" dirty="0" err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Producción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Costes</a:t>
            </a:r>
            <a:endParaRPr lang="en-US" sz="1100" dirty="0"/>
          </a:p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Energía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Implementación Python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269748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39903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1399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Publisher (Productor)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18745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publisher.py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68680" y="214884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051560" y="214884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Librería: paho-mqtt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246888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51560" y="246888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TLS con client.tls_set()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278892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51560" y="278892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publisher.crt/key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68680" y="31089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051560" y="310896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 cada 3 segundos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68680" y="342900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51560" y="34290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8+ topics simulados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3474720" y="128016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3474720" y="1280160"/>
            <a:ext cx="269748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399032"/>
            <a:ext cx="274320" cy="27432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3977640" y="1399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Director</a:t>
            </a:r>
            <a:endParaRPr lang="en-US" sz="1300" dirty="0"/>
          </a:p>
        </p:txBody>
      </p:sp>
      <p:sp>
        <p:nvSpPr>
          <p:cNvPr id="23" name="Text 19"/>
          <p:cNvSpPr/>
          <p:nvPr/>
        </p:nvSpPr>
        <p:spPr>
          <a:xfrm>
            <a:off x="3657600" y="18745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subscriber_director.py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3703320" y="214884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3886200" y="214884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Librería: paho-mqtt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3703320" y="246888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3886200" y="246888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TLS con client.tls_set()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3703320" y="278892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3886200" y="278892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director.crt/key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3703320" y="31089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3886200" y="310896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suscribe a fabrica/#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3703320" y="342900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33" name="Text 29"/>
          <p:cNvSpPr/>
          <p:nvPr/>
        </p:nvSpPr>
        <p:spPr>
          <a:xfrm>
            <a:off x="3886200" y="34290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Recibe TODOS los mensajes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6309360" y="1280160"/>
            <a:ext cx="269748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5" name="Shape 31"/>
          <p:cNvSpPr/>
          <p:nvPr/>
        </p:nvSpPr>
        <p:spPr>
          <a:xfrm>
            <a:off x="6309360" y="1280160"/>
            <a:ext cx="2697480" cy="45720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3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1399032"/>
            <a:ext cx="274320" cy="274320"/>
          </a:xfrm>
          <a:prstGeom prst="rect">
            <a:avLst/>
          </a:prstGeom>
        </p:spPr>
      </p:pic>
      <p:sp>
        <p:nvSpPr>
          <p:cNvPr id="37" name="Text 32"/>
          <p:cNvSpPr/>
          <p:nvPr/>
        </p:nvSpPr>
        <p:spPr>
          <a:xfrm>
            <a:off x="6812280" y="139903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Subscriber Operario</a:t>
            </a:r>
            <a:endParaRPr lang="en-US" sz="1300" dirty="0"/>
          </a:p>
        </p:txBody>
      </p:sp>
      <p:sp>
        <p:nvSpPr>
          <p:cNvPr id="38" name="Text 33"/>
          <p:cNvSpPr/>
          <p:nvPr/>
        </p:nvSpPr>
        <p:spPr>
          <a:xfrm>
            <a:off x="6492240" y="1874520"/>
            <a:ext cx="2331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subscriber_operario.py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6537960" y="214884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6720840" y="214884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Librería: paho-mqtt</a:t>
            </a:r>
            <a:endParaRPr lang="en-US" sz="1000" dirty="0"/>
          </a:p>
        </p:txBody>
      </p:sp>
      <p:sp>
        <p:nvSpPr>
          <p:cNvPr id="41" name="Text 36"/>
          <p:cNvSpPr/>
          <p:nvPr/>
        </p:nvSpPr>
        <p:spPr>
          <a:xfrm>
            <a:off x="6537960" y="246888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6720840" y="246888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 TLS con client.tls_set()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6537960" y="278892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44" name="Text 39"/>
          <p:cNvSpPr/>
          <p:nvPr/>
        </p:nvSpPr>
        <p:spPr>
          <a:xfrm>
            <a:off x="6720840" y="278892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 operario.crt/key</a:t>
            </a:r>
            <a:endParaRPr lang="en-US" sz="1000" dirty="0"/>
          </a:p>
        </p:txBody>
      </p:sp>
      <p:sp>
        <p:nvSpPr>
          <p:cNvPr id="45" name="Text 40"/>
          <p:cNvSpPr/>
          <p:nvPr/>
        </p:nvSpPr>
        <p:spPr>
          <a:xfrm>
            <a:off x="6537960" y="310896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46" name="Text 41"/>
          <p:cNvSpPr/>
          <p:nvPr/>
        </p:nvSpPr>
        <p:spPr>
          <a:xfrm>
            <a:off x="6720840" y="310896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Intenta suscribirse a fabrica/#</a:t>
            </a:r>
            <a:endParaRPr lang="en-US" sz="1000" dirty="0"/>
          </a:p>
        </p:txBody>
      </p:sp>
      <p:sp>
        <p:nvSpPr>
          <p:cNvPr id="47" name="Text 42"/>
          <p:cNvSpPr/>
          <p:nvPr/>
        </p:nvSpPr>
        <p:spPr>
          <a:xfrm>
            <a:off x="6537960" y="3429000"/>
            <a:ext cx="137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28090"/>
                </a:solidFill>
              </a:rPr>
              <a:t>•</a:t>
            </a:r>
            <a:endParaRPr lang="en-US" sz="1200" dirty="0"/>
          </a:p>
        </p:txBody>
      </p:sp>
      <p:sp>
        <p:nvSpPr>
          <p:cNvPr id="48" name="Text 43"/>
          <p:cNvSpPr/>
          <p:nvPr/>
        </p:nvSpPr>
        <p:spPr>
          <a:xfrm>
            <a:off x="6720840" y="3429000"/>
            <a:ext cx="2148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ACL filtra → solo recibe línea 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5668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 y Verificación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2788920" y="1188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2809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278892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389120" y="1188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0A89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38912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 ACL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89320" y="118872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2C39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8+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989320" y="17830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228600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📺 Comandos para la Demo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697480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mensajes publicados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2907792"/>
            <a:ext cx="768096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4" name="Text 12"/>
          <p:cNvSpPr/>
          <p:nvPr/>
        </p:nvSpPr>
        <p:spPr>
          <a:xfrm>
            <a:off x="1005840" y="2953512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-f fabrica-publisher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319272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TODOS los mensajes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22960" y="3529584"/>
            <a:ext cx="768096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17" name="Text 15"/>
          <p:cNvSpPr/>
          <p:nvPr/>
        </p:nvSpPr>
        <p:spPr>
          <a:xfrm>
            <a:off x="1005840" y="3575304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-f fabrica-subscriber-director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3941064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solo línea 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51376"/>
            <a:ext cx="768096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0" name="Text 18"/>
          <p:cNvSpPr/>
          <p:nvPr/>
        </p:nvSpPr>
        <p:spPr>
          <a:xfrm>
            <a:off x="1005840" y="4197096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logs -f fabrica-subscriber-operario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22960" y="4562856"/>
            <a:ext cx="7680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0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Node-RED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22960" y="4773168"/>
            <a:ext cx="7680960" cy="32004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lstStyle/>
          <a:p>
            <a:endParaRPr lang="es-ES"/>
          </a:p>
        </p:txBody>
      </p:sp>
      <p:sp>
        <p:nvSpPr>
          <p:cNvPr id="23" name="Text 21"/>
          <p:cNvSpPr/>
          <p:nvPr/>
        </p:nvSpPr>
        <p:spPr>
          <a:xfrm>
            <a:off x="1005840" y="4818888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http://localhost:1880/ui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668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Conclusiones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2743200" y="1463040"/>
            <a:ext cx="3657600" cy="0"/>
          </a:xfrm>
          <a:prstGeom prst="line">
            <a:avLst/>
          </a:prstGeom>
          <a:noFill/>
          <a:ln w="381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1371600" y="1828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MQTT: Protocolo pub/sub ligero ideal para IoT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224028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TLS Mutual: Ambos lados se autentican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26517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ACL: Control granular por certificado (CN → username)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Filtrado en broker: Transparente para clientes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347472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Python + Docker: Arquitectura profesional y reproducible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71600" y="3886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Principio de mínimo privilegio demostrado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1073</Words>
  <Application>Microsoft Office PowerPoint</Application>
  <PresentationFormat>Presentación en pantalla (16:9)</PresentationFormat>
  <Paragraphs>252</Paragraphs>
  <Slides>12</Slides>
  <Notes>12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Arial Black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MQTT Seguro con TLS y Control de Acceso</dc:title>
  <dc:subject>PptxGenJS Presentation</dc:subject>
  <dc:creator>Estudiante IoT</dc:creator>
  <cp:lastModifiedBy>Jon Ochoa Cerezo</cp:lastModifiedBy>
  <cp:revision>3</cp:revision>
  <dcterms:created xsi:type="dcterms:W3CDTF">2026-02-25T19:11:26Z</dcterms:created>
  <dcterms:modified xsi:type="dcterms:W3CDTF">2026-02-25T19:39:42Z</dcterms:modified>
</cp:coreProperties>
</file>